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8458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hysical AI band"/>
          <p:cNvSpPr/>
          <p:nvPr/>
        </p:nvSpPr>
        <p:spPr>
          <a:xfrm>
            <a:off x="320040" y="320040"/>
            <a:ext cx="8503920" cy="1051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Governing dynamics"/>
          <p:cNvSpPr/>
          <p:nvPr/>
        </p:nvSpPr>
        <p:spPr>
          <a:xfrm>
            <a:off x="1828800" y="1737360"/>
            <a:ext cx="5486400" cy="868680"/>
          </a:xfrm>
          <a:prstGeom prst="roundRect">
            <a:avLst>
              <a:gd name="adj" fmla="val 6000"/>
            </a:avLst>
          </a:prstGeom>
          <a:solidFill>
            <a:srgbClr val="E5F0F1"/>
          </a:solidFill>
          <a:ln w="19050">
            <a:solidFill>
              <a:srgbClr val="31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Question A"/>
          <p:cNvSpPr/>
          <p:nvPr/>
        </p:nvSpPr>
        <p:spPr>
          <a:xfrm>
            <a:off x="320040" y="2971800"/>
            <a:ext cx="4023360" cy="3383280"/>
          </a:xfrm>
          <a:prstGeom prst="roundRect">
            <a:avLst>
              <a:gd name="adj" fmla="val 6000"/>
            </a:avLst>
          </a:prstGeom>
          <a:solidFill>
            <a:srgbClr val="DDE6F0"/>
          </a:solidFill>
          <a:ln w="19050">
            <a:solidFill>
              <a:srgbClr val="0F4D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Question B"/>
          <p:cNvSpPr/>
          <p:nvPr/>
        </p:nvSpPr>
        <p:spPr>
          <a:xfrm>
            <a:off x="4800600" y="2971800"/>
            <a:ext cx="4023360" cy="3383280"/>
          </a:xfrm>
          <a:prstGeom prst="roundRect">
            <a:avLst>
              <a:gd name="adj" fmla="val 6000"/>
            </a:avLst>
          </a:prstGeom>
          <a:solidFill>
            <a:srgbClr val="F5E5E5"/>
          </a:solidFill>
          <a:ln w="19050">
            <a:solidFill>
              <a:srgbClr val="B64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st beds"/>
          <p:cNvSpPr/>
          <p:nvPr/>
        </p:nvSpPr>
        <p:spPr>
          <a:xfrm>
            <a:off x="320040" y="6720840"/>
            <a:ext cx="8503920" cy="1463040"/>
          </a:xfrm>
          <a:prstGeom prst="rect">
            <a:avLst/>
          </a:prstGeom>
          <a:solidFill>
            <a:srgbClr val="E5F0F1"/>
          </a:solidFill>
          <a:ln w="19050">
            <a:solidFill>
              <a:srgbClr val="31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7" name="arrow"/>
          <p:cNvCxnSpPr/>
          <p:nvPr/>
        </p:nvCxnSpPr>
        <p:spPr>
          <a:xfrm>
            <a:off x="4572000" y="1371600"/>
            <a:ext cx="0" cy="365760"/>
          </a:xfrm>
          <a:prstGeom prst="line">
            <a:avLst/>
          </a:prstGeom>
          <a:ln w="31750">
            <a:solidFill>
              <a:srgbClr val="4D4D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arrow"/>
          <p:cNvCxnSpPr/>
          <p:nvPr/>
        </p:nvCxnSpPr>
        <p:spPr>
          <a:xfrm>
            <a:off x="3200400" y="2606040"/>
            <a:ext cx="0" cy="365760"/>
          </a:xfrm>
          <a:prstGeom prst="line">
            <a:avLst/>
          </a:prstGeom>
          <a:ln w="31750">
            <a:solidFill>
              <a:srgbClr val="31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arrow"/>
          <p:cNvCxnSpPr/>
          <p:nvPr/>
        </p:nvCxnSpPr>
        <p:spPr>
          <a:xfrm>
            <a:off x="5943600" y="2606040"/>
            <a:ext cx="0" cy="365760"/>
          </a:xfrm>
          <a:prstGeom prst="line">
            <a:avLst/>
          </a:prstGeom>
          <a:ln w="31750">
            <a:solidFill>
              <a:srgbClr val="31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arrow"/>
          <p:cNvCxnSpPr/>
          <p:nvPr/>
        </p:nvCxnSpPr>
        <p:spPr>
          <a:xfrm flipH="1">
            <a:off x="4343400" y="3429000"/>
            <a:ext cx="457200" cy="0"/>
          </a:xfrm>
          <a:prstGeom prst="line">
            <a:avLst/>
          </a:prstGeom>
          <a:ln w="31750">
            <a:solidFill>
              <a:srgbClr val="B6434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arrow"/>
          <p:cNvCxnSpPr/>
          <p:nvPr/>
        </p:nvCxnSpPr>
        <p:spPr>
          <a:xfrm>
            <a:off x="3840480" y="6355080"/>
            <a:ext cx="0" cy="365760"/>
          </a:xfrm>
          <a:prstGeom prst="line">
            <a:avLst/>
          </a:prstGeom>
          <a:ln w="31750">
            <a:solidFill>
              <a:srgbClr val="0F4D9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arrow"/>
          <p:cNvCxnSpPr/>
          <p:nvPr/>
        </p:nvCxnSpPr>
        <p:spPr>
          <a:xfrm>
            <a:off x="5303520" y="6355080"/>
            <a:ext cx="0" cy="365760"/>
          </a:xfrm>
          <a:prstGeom prst="line">
            <a:avLst/>
          </a:prstGeom>
          <a:ln w="31750">
            <a:solidFill>
              <a:srgbClr val="B6434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hysical AI"/>
          <p:cNvSpPr txBox="1"/>
          <p:nvPr/>
        </p:nvSpPr>
        <p:spPr>
          <a:xfrm>
            <a:off x="548640" y="466344"/>
            <a:ext cx="2743200" cy="3718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72727"/>
                </a:solidFill>
                <a:latin typeface="Arial"/>
              </a:rPr>
              <a:t>Physical AI</a:t>
            </a:r>
          </a:p>
        </p:txBody>
      </p:sp>
      <p:sp>
        <p:nvSpPr>
          <p:cNvPr id="14" name="Physical AI sub"/>
          <p:cNvSpPr txBox="1"/>
          <p:nvPr/>
        </p:nvSpPr>
        <p:spPr>
          <a:xfrm>
            <a:off x="548640" y="868680"/>
            <a:ext cx="4937760" cy="463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D4D4D"/>
                </a:solidFill>
                <a:latin typeface="Arial"/>
              </a:rPr>
              <a:t>Learning systems that observe, model, and act on physical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D4D4D"/>
                </a:solidFill>
                <a:latin typeface="Arial"/>
              </a:rPr>
              <a:t>systems.</a:t>
            </a:r>
          </a:p>
        </p:txBody>
      </p:sp>
      <p:sp>
        <p:nvSpPr>
          <p:cNvPr id="15" name="Physical AI right"/>
          <p:cNvSpPr txBox="1"/>
          <p:nvPr/>
        </p:nvSpPr>
        <p:spPr>
          <a:xfrm>
            <a:off x="5669280" y="630936"/>
            <a:ext cx="2926080" cy="463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D4D4D"/>
                </a:solidFill>
                <a:latin typeface="Arial"/>
              </a:rPr>
              <a:t>Its questions in science and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D4D4D"/>
                </a:solidFill>
                <a:latin typeface="Arial"/>
              </a:rPr>
              <a:t>engineering rest on one substrate.</a:t>
            </a:r>
          </a:p>
        </p:txBody>
      </p:sp>
      <p:sp>
        <p:nvSpPr>
          <p:cNvPr id="16" name="Substrate title"/>
          <p:cNvSpPr txBox="1"/>
          <p:nvPr/>
        </p:nvSpPr>
        <p:spPr>
          <a:xfrm>
            <a:off x="2011680" y="1847088"/>
            <a:ext cx="5120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17078"/>
                </a:solidFill>
                <a:latin typeface="Arial"/>
              </a:rPr>
              <a:t>The governing dynamics of physical systems</a:t>
            </a:r>
          </a:p>
        </p:txBody>
      </p:sp>
      <p:sp>
        <p:nvSpPr>
          <p:cNvPr id="17" name="Substrate body"/>
          <p:cNvSpPr txBox="1"/>
          <p:nvPr/>
        </p:nvSpPr>
        <p:spPr>
          <a:xfrm>
            <a:off x="2011680" y="2194560"/>
            <a:ext cx="5120640" cy="463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D4D4D"/>
                </a:solidFill>
                <a:latin typeface="Arial"/>
              </a:rPr>
              <a:t>Ordinary and partial differential equations with initial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D4D4D"/>
                </a:solidFill>
                <a:latin typeface="Arial"/>
              </a:rPr>
              <a:t>conditions, boundary conditions, and external forcing.</a:t>
            </a:r>
          </a:p>
        </p:txBody>
      </p:sp>
      <p:sp>
        <p:nvSpPr>
          <p:cNvPr id="18" name="qa title"/>
          <p:cNvSpPr txBox="1"/>
          <p:nvPr/>
        </p:nvSpPr>
        <p:spPr>
          <a:xfrm>
            <a:off x="457200" y="3081528"/>
            <a:ext cx="3749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4D92"/>
                </a:solidFill>
                <a:latin typeface="Arial"/>
              </a:rPr>
              <a:t>A. Learning to solve the dynamics</a:t>
            </a:r>
          </a:p>
        </p:txBody>
      </p:sp>
      <p:sp>
        <p:nvSpPr>
          <p:cNvPr id="19" name="qa body"/>
          <p:cNvSpPr txBox="1"/>
          <p:nvPr/>
        </p:nvSpPr>
        <p:spPr>
          <a:xfrm>
            <a:off x="457200" y="3392424"/>
            <a:ext cx="3749040" cy="89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D4D4D"/>
                </a:solidFill>
                <a:latin typeface="Arial"/>
              </a:rPr>
              <a:t>Neural operators and neural solvers that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D4D4D"/>
                </a:solidFill>
                <a:latin typeface="Arial"/>
              </a:rPr>
              <a:t>return the solution field fast enough for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D4D4D"/>
                </a:solidFill>
                <a:latin typeface="Arial"/>
              </a:rPr>
              <a:t>design and control, rather than a surrogate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D4D4D"/>
                </a:solidFill>
                <a:latin typeface="Arial"/>
              </a:rPr>
              <a:t>that only predicts.</a:t>
            </a:r>
          </a:p>
        </p:txBody>
      </p:sp>
      <p:pic>
        <p:nvPicPr>
          <p:cNvPr id="20" name="qa panel" descr="panel_a_sol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654296"/>
            <a:ext cx="3749039" cy="1298448"/>
          </a:xfrm>
          <a:prstGeom prst="rect">
            <a:avLst/>
          </a:prstGeom>
        </p:spPr>
      </p:pic>
      <p:sp>
        <p:nvSpPr>
          <p:cNvPr id="21" name="qa caption"/>
          <p:cNvSpPr txBox="1"/>
          <p:nvPr/>
        </p:nvSpPr>
        <p:spPr>
          <a:xfrm>
            <a:off x="457200" y="5989320"/>
            <a:ext cx="3749040" cy="3718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67676"/>
                </a:solidFill>
                <a:latin typeface="Arial"/>
              </a:rPr>
              <a:t>Computed. A two-dimensional advection-diffusion field,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67676"/>
                </a:solidFill>
                <a:latin typeface="Arial"/>
              </a:rPr>
              <a:t>solved and shown at three times.</a:t>
            </a:r>
          </a:p>
        </p:txBody>
      </p:sp>
      <p:sp>
        <p:nvSpPr>
          <p:cNvPr id="22" name="qb title"/>
          <p:cNvSpPr txBox="1"/>
          <p:nvPr/>
        </p:nvSpPr>
        <p:spPr>
          <a:xfrm>
            <a:off x="4937760" y="3081528"/>
            <a:ext cx="3749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64342"/>
                </a:solidFill>
                <a:latin typeface="Arial"/>
              </a:rPr>
              <a:t>B. The model-to-decision gap</a:t>
            </a:r>
          </a:p>
        </p:txBody>
      </p:sp>
      <p:sp>
        <p:nvSpPr>
          <p:cNvPr id="23" name="qb body"/>
          <p:cNvSpPr txBox="1"/>
          <p:nvPr/>
        </p:nvSpPr>
        <p:spPr>
          <a:xfrm>
            <a:off x="4937760" y="3392424"/>
            <a:ext cx="3749040" cy="1103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D4D4D"/>
                </a:solidFill>
                <a:latin typeface="Arial"/>
              </a:rPr>
              <a:t>How the error of a learned model reaches 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D4D4D"/>
                </a:solidFill>
                <a:latin typeface="Arial"/>
              </a:rPr>
              <a:t>control or optimization decision. The gap is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D4D4D"/>
                </a:solidFill>
                <a:latin typeface="Arial"/>
              </a:rPr>
              <a:t>small over most of the state space and large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D4D4D"/>
                </a:solidFill>
                <a:latin typeface="Arial"/>
              </a:rPr>
              <a:t>near a critical point. Regret and constraint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D4D4D"/>
                </a:solidFill>
                <a:latin typeface="Arial"/>
              </a:rPr>
              <a:t>violation return to A as its training signal.</a:t>
            </a:r>
          </a:p>
        </p:txBody>
      </p:sp>
      <p:pic>
        <p:nvPicPr>
          <p:cNvPr id="24" name="qb panel" descr="panel_b_g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4654296"/>
            <a:ext cx="3749039" cy="1298448"/>
          </a:xfrm>
          <a:prstGeom prst="rect">
            <a:avLst/>
          </a:prstGeom>
        </p:spPr>
      </p:pic>
      <p:sp>
        <p:nvSpPr>
          <p:cNvPr id="25" name="qb caption"/>
          <p:cNvSpPr txBox="1"/>
          <p:nvPr/>
        </p:nvSpPr>
        <p:spPr>
          <a:xfrm>
            <a:off x="4937760" y="5989320"/>
            <a:ext cx="3749040" cy="3718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67676"/>
                </a:solidFill>
                <a:latin typeface="Arial"/>
              </a:rPr>
              <a:t>Computed. Shift of a bistable system's equilibrium under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67676"/>
                </a:solidFill>
                <a:latin typeface="Arial"/>
              </a:rPr>
              <a:t>a fixed model error, against distance to the fold.</a:t>
            </a:r>
          </a:p>
        </p:txBody>
      </p:sp>
      <p:sp>
        <p:nvSpPr>
          <p:cNvPr id="26" name="Test beds heading"/>
          <p:cNvSpPr txBox="1"/>
          <p:nvPr/>
        </p:nvSpPr>
        <p:spPr>
          <a:xfrm>
            <a:off x="502920" y="6812279"/>
            <a:ext cx="8138160" cy="2499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17078"/>
                </a:solidFill>
                <a:latin typeface="Arial"/>
              </a:rPr>
              <a:t>Tested on the same physical systems in two branches</a:t>
            </a:r>
          </a:p>
        </p:txBody>
      </p:sp>
      <p:cxnSp>
        <p:nvCxnSpPr>
          <p:cNvPr id="27" name="separator"/>
          <p:cNvCxnSpPr/>
          <p:nvPr/>
        </p:nvCxnSpPr>
        <p:spPr>
          <a:xfrm>
            <a:off x="4572000" y="7159752"/>
            <a:ext cx="0" cy="886967"/>
          </a:xfrm>
          <a:prstGeom prst="line">
            <a:avLst/>
          </a:prstGeom>
          <a:ln w="12700">
            <a:solidFill>
              <a:srgbClr val="42949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sci_title"/>
          <p:cNvSpPr txBox="1"/>
          <p:nvPr/>
        </p:nvSpPr>
        <p:spPr>
          <a:xfrm>
            <a:off x="594359" y="7141464"/>
            <a:ext cx="3703320" cy="2499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72727"/>
                </a:solidFill>
                <a:latin typeface="Arial"/>
              </a:rPr>
              <a:t>Science: materials processing</a:t>
            </a:r>
          </a:p>
        </p:txBody>
      </p:sp>
      <p:sp>
        <p:nvSpPr>
          <p:cNvPr id="29" name="sci_body"/>
          <p:cNvSpPr txBox="1"/>
          <p:nvPr/>
        </p:nvSpPr>
        <p:spPr>
          <a:xfrm>
            <a:off x="594359" y="7397496"/>
            <a:ext cx="37033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D4D4D"/>
                </a:solidFill>
                <a:latin typeface="Arial"/>
              </a:rPr>
              <a:t>Temperature and composition fields of 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D4D4D"/>
                </a:solidFill>
                <a:latin typeface="Arial"/>
              </a:rPr>
              <a:t>processing step, and the process set-points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D4D4D"/>
                </a:solidFill>
                <a:latin typeface="Arial"/>
              </a:rPr>
              <a:t>chosen from their predicted rollouts.</a:t>
            </a:r>
          </a:p>
        </p:txBody>
      </p:sp>
      <p:sp>
        <p:nvSpPr>
          <p:cNvPr id="30" name="eng_title"/>
          <p:cNvSpPr txBox="1"/>
          <p:nvPr/>
        </p:nvSpPr>
        <p:spPr>
          <a:xfrm>
            <a:off x="4846320" y="7141464"/>
            <a:ext cx="3703320" cy="2499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72727"/>
                </a:solidFill>
                <a:latin typeface="Arial"/>
              </a:rPr>
              <a:t>Engineering: water and energy systems</a:t>
            </a:r>
          </a:p>
        </p:txBody>
      </p:sp>
      <p:sp>
        <p:nvSpPr>
          <p:cNvPr id="31" name="eng_body"/>
          <p:cNvSpPr txBox="1"/>
          <p:nvPr/>
        </p:nvSpPr>
        <p:spPr>
          <a:xfrm>
            <a:off x="4846320" y="7397496"/>
            <a:ext cx="370332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D4D4D"/>
                </a:solidFill>
                <a:latin typeface="Arial"/>
              </a:rPr>
              <a:t>Urban water demand and pressure, day-ahead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D4D4D"/>
                </a:solidFill>
                <a:latin typeface="Arial"/>
              </a:rPr>
              <a:t>electricity price, and hot-strip rolling energy, with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D4D4D"/>
                </a:solidFill>
                <a:latin typeface="Arial"/>
              </a:rPr>
              <a:t>the pump schedules and controller actions they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D4D4D"/>
                </a:solidFill>
                <a:latin typeface="Arial"/>
              </a:rPr>
              <a:t>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